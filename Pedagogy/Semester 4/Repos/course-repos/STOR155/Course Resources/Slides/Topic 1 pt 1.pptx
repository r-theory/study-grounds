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74" r:id="rId12"/>
    <p:sldId id="266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7" autoAdjust="0"/>
    <p:restoredTop sz="94634"/>
  </p:normalViewPr>
  <p:slideViewPr>
    <p:cSldViewPr snapToGrid="0">
      <p:cViewPr varScale="1">
        <p:scale>
          <a:sx n="112" d="100"/>
          <a:sy n="112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E8859-4C9F-4080-8DAE-844C3A004DA7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F33BF-C6CD-459D-AC99-173BE454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28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Doctors wanted to know if placing stents in obstructed arteries would reduce risk of stroke.  They placed 224 patients at risk of experiencing a stroke in a treatment group (receiving stents), and 227 in a control group (not receiving stents)</a:t>
            </a:r>
          </a:p>
          <a:p>
            <a:endParaRPr lang="en-US" dirty="0"/>
          </a:p>
          <a:p>
            <a:r>
              <a:rPr lang="en-US" dirty="0"/>
              <a:t>NOTE: compute percentages BEFORE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F33BF-C6CD-459D-AC99-173BE4549C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41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3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9790671" y="4546233"/>
            <a:ext cx="2255229" cy="2310064"/>
            <a:chOff x="7343003" y="3409675"/>
            <a:chExt cx="1691422" cy="1732548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57" name="Google Shape;57;p1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9" name="Google Shape;59;p1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3" name="Google Shape;63;p1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74" name="Google Shape;74;p14"/>
          <p:cNvGrpSpPr/>
          <p:nvPr/>
        </p:nvGrpSpPr>
        <p:grpSpPr>
          <a:xfrm>
            <a:off x="6724671" y="0"/>
            <a:ext cx="5085429" cy="5118803"/>
            <a:chOff x="5043503" y="0"/>
            <a:chExt cx="3814072" cy="3839102"/>
          </a:xfrm>
        </p:grpSpPr>
        <p:sp>
          <p:nvSpPr>
            <p:cNvPr id="75" name="Google Shape;75;p1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1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7" name="Google Shape;77;p1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78" name="Google Shape;78;p1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81" name="Google Shape;81;p1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83" name="Google Shape;83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85" name="Google Shape;85;p1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1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1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1098667" y="2151751"/>
            <a:ext cx="5674000" cy="24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098667" y="4795067"/>
            <a:ext cx="5674000" cy="9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0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1" name="Google Shape;131;p1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1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000" cy="13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000" cy="3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5" name="Google Shape;135;p16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3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8" name="Google Shape;138;p1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1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000" cy="13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4574000" cy="3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2" name="Google Shape;142;p17"/>
          <p:cNvSpPr txBox="1">
            <a:spLocks noGrp="1"/>
          </p:cNvSpPr>
          <p:nvPr>
            <p:ph type="body" idx="2"/>
          </p:nvPr>
        </p:nvSpPr>
        <p:spPr>
          <a:xfrm>
            <a:off x="6538200" y="2653400"/>
            <a:ext cx="4574000" cy="3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3" name="Google Shape;143;p1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58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52" name="Google Shape;152;p1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1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416000" cy="21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1738400" y="3079567"/>
            <a:ext cx="4416000" cy="2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6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0"/>
          <p:cNvGrpSpPr/>
          <p:nvPr/>
        </p:nvGrpSpPr>
        <p:grpSpPr>
          <a:xfrm>
            <a:off x="9155619" y="1741"/>
            <a:ext cx="3023268" cy="3468920"/>
            <a:chOff x="6790514" y="1306"/>
            <a:chExt cx="2267451" cy="2601690"/>
          </a:xfrm>
        </p:grpSpPr>
        <p:grpSp>
          <p:nvGrpSpPr>
            <p:cNvPr id="159" name="Google Shape;159;p20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60" name="Google Shape;160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" name="Google Shape;161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" name="Google Shape;162;p2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3" name="Google Shape;163;p20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64" name="Google Shape;164;p2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" name="Google Shape;166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7" name="Google Shape;167;p2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68" name="Google Shape;168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" name="Google Shape;169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1098667" y="1018133"/>
            <a:ext cx="7810400" cy="47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9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1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74" name="Google Shape;174;p2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2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574000" cy="2653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"/>
          </p:nvPr>
        </p:nvSpPr>
        <p:spPr>
          <a:xfrm>
            <a:off x="1738400" y="3657604"/>
            <a:ext cx="4574000" cy="968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body" idx="2"/>
          </p:nvPr>
        </p:nvSpPr>
        <p:spPr>
          <a:xfrm>
            <a:off x="6538267" y="881333"/>
            <a:ext cx="4574000" cy="51608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Google Shape;179;p21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1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2"/>
          <p:cNvGrpSpPr/>
          <p:nvPr/>
        </p:nvGrpSpPr>
        <p:grpSpPr>
          <a:xfrm>
            <a:off x="951164" y="5129492"/>
            <a:ext cx="1100523" cy="1100523"/>
            <a:chOff x="348199" y="179450"/>
            <a:chExt cx="1116300" cy="11163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2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4" name="Google Shape;184;p22"/>
          <p:cNvSpPr txBox="1">
            <a:spLocks noGrp="1"/>
          </p:cNvSpPr>
          <p:nvPr>
            <p:ph type="body" idx="1"/>
          </p:nvPr>
        </p:nvSpPr>
        <p:spPr>
          <a:xfrm>
            <a:off x="1738400" y="5518633"/>
            <a:ext cx="7790800" cy="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047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Google Shape;185;p22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4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3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3"/>
          <p:cNvGrpSpPr/>
          <p:nvPr/>
        </p:nvGrpSpPr>
        <p:grpSpPr>
          <a:xfrm>
            <a:off x="69" y="5465600"/>
            <a:ext cx="12192048" cy="1392400"/>
            <a:chOff x="52" y="4099200"/>
            <a:chExt cx="9144036" cy="1044300"/>
          </a:xfrm>
        </p:grpSpPr>
        <p:grpSp>
          <p:nvGrpSpPr>
            <p:cNvPr id="188" name="Google Shape;188;p23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89" name="Google Shape;189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" name="Google Shape;190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" name="Google Shape;191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" name="Google Shape;192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3" name="Google Shape;193;p23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94" name="Google Shape;194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" name="Google Shape;195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" name="Google Shape;197;p23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" name="Google Shape;198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9" name="Google Shape;199;p23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200" name="Google Shape;200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" name="Google Shape;201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" name="Google Shape;202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" name="Google Shape;203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4" name="Google Shape;204;p23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205" name="Google Shape;205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8" name="Google Shape;208;p23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209" name="Google Shape;209;p23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" name="Google Shape;210;p23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23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23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23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4" name="Google Shape;214;p23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215" name="Google Shape;215;p23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23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23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23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9" name="Google Shape;219;p23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220" name="Google Shape;220;p23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" name="Google Shape;221;p23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" name="Google Shape;222;p23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3" name="Google Shape;223;p23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224" name="Google Shape;224;p23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" name="Google Shape;225;p23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" name="Google Shape;226;p23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8" name="Google Shape;228;p23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9" name="Google Shape;229;p23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230" name="Google Shape;230;p23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" name="Google Shape;231;p23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2" name="Google Shape;232;p23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" name="Google Shape;233;p23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34" name="Google Shape;234;p23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235" name="Google Shape;235;p23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" name="Google Shape;236;p23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" name="Google Shape;237;p23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" name="Google Shape;238;p23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39" name="Google Shape;239;p23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40" name="Google Shape;240;p23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" name="Google Shape;241;p23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" name="Google Shape;242;p23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3" name="Google Shape;243;p23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44" name="Google Shape;244;p23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" name="Google Shape;245;p23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" name="Google Shape;246;p23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" name="Google Shape;247;p23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8" name="Google Shape;248;p23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49" name="Google Shape;249;p23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" name="Google Shape;250;p23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" name="Google Shape;251;p23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" name="Google Shape;252;p23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3" name="Google Shape;253;p23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54" name="Google Shape;254;p23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" name="Google Shape;255;p23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" name="Google Shape;256;p23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" name="Google Shape;257;p23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8" name="Google Shape;258;p23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9" name="Google Shape;259;p23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60" name="Google Shape;260;p23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23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23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23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4" name="Google Shape;264;p23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65" name="Google Shape;265;p23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23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23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8" name="Google Shape;268;p23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69" name="Google Shape;269;p23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23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23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23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3" name="Google Shape;273;p23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74" name="Google Shape;274;p23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23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23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23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23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9" name="Google Shape;279;p23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80" name="Google Shape;280;p23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23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23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23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4" name="Google Shape;284;p23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85" name="Google Shape;285;p23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23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23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8" name="Google Shape;288;p23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89" name="Google Shape;289;p23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23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23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23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23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94" name="Google Shape;294;p23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95" name="Google Shape;295;p23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23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23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99" name="Google Shape;299;p23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300" name="Google Shape;300;p23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23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23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23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04" name="Google Shape;304;p23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305" name="Google Shape;305;p23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6" name="Google Shape;306;p23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7" name="Google Shape;307;p23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08" name="Google Shape;308;p23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309" name="Google Shape;309;p23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0" name="Google Shape;310;p23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1" name="Google Shape;311;p23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2" name="Google Shape;312;p23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13" name="Google Shape;313;p23"/>
          <p:cNvSpPr txBox="1">
            <a:spLocks noGrp="1"/>
          </p:cNvSpPr>
          <p:nvPr>
            <p:ph type="title" hasCustomPrompt="1"/>
          </p:nvPr>
        </p:nvSpPr>
        <p:spPr>
          <a:xfrm>
            <a:off x="1851500" y="1030300"/>
            <a:ext cx="8489200" cy="248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23"/>
          <p:cNvSpPr txBox="1">
            <a:spLocks noGrp="1"/>
          </p:cNvSpPr>
          <p:nvPr>
            <p:ph type="body" idx="1"/>
          </p:nvPr>
        </p:nvSpPr>
        <p:spPr>
          <a:xfrm>
            <a:off x="1851500" y="3616400"/>
            <a:ext cx="8489200" cy="14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5" name="Google Shape;315;p2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15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8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 rtl="0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fld id="{65B79626-D220-4993-B705-2EB190DEC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166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dtech.unc.edu/service/poll-everywher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C93C-0750-8892-DE90-86DBEEABD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8667" y="1800225"/>
            <a:ext cx="5674000" cy="2848726"/>
          </a:xfrm>
        </p:spPr>
        <p:txBody>
          <a:bodyPr>
            <a:normAutofit/>
          </a:bodyPr>
          <a:lstStyle/>
          <a:p>
            <a:r>
              <a:rPr lang="en-US" dirty="0"/>
              <a:t>Topic 1:</a:t>
            </a:r>
            <a:br>
              <a:rPr lang="en-US" dirty="0"/>
            </a:br>
            <a:r>
              <a:rPr lang="en-US" dirty="0"/>
              <a:t>Introduction and Basics of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BA0F3-8656-2BD0-E7EE-418D0C96B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8667" y="4795066"/>
            <a:ext cx="8188208" cy="1605733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STOR 155: Introduction to Data Models and Inference</a:t>
            </a:r>
          </a:p>
          <a:p>
            <a:pPr>
              <a:spcAft>
                <a:spcPts val="600"/>
              </a:spcAft>
            </a:pPr>
            <a:r>
              <a:rPr lang="en-US" dirty="0"/>
              <a:t>Dr. Teressa Bergland</a:t>
            </a:r>
          </a:p>
          <a:p>
            <a:pPr>
              <a:spcAft>
                <a:spcPts val="600"/>
              </a:spcAft>
            </a:pPr>
            <a:r>
              <a:rPr lang="en-US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3853403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0A33-0DAC-F6A8-F463-DA8B6AE5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14400"/>
          </a:xfrm>
        </p:spPr>
        <p:txBody>
          <a:bodyPr>
            <a:normAutofit/>
          </a:bodyPr>
          <a:lstStyle/>
          <a:p>
            <a:r>
              <a:rPr lang="en-US" sz="3600" dirty="0"/>
              <a:t>Introductions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7B455-C8EA-A7BA-9A30-FA0E3ED59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399" y="1712500"/>
            <a:ext cx="9605875" cy="4745450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400" dirty="0"/>
              <a:t>Welcome to STAT 155!  Your first question: Who IS Dr. Bergland?</a:t>
            </a:r>
          </a:p>
          <a:p>
            <a:pPr marL="194729" indent="0">
              <a:spcBef>
                <a:spcPts val="400"/>
              </a:spcBef>
              <a:buNone/>
            </a:pPr>
            <a:endParaRPr lang="en-US" sz="2400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400" dirty="0"/>
              <a:t>About me (T/F):</a:t>
            </a:r>
          </a:p>
          <a:p>
            <a:pPr>
              <a:spcBef>
                <a:spcPts val="400"/>
              </a:spcBef>
            </a:pPr>
            <a:r>
              <a:rPr lang="en-US" sz="2400" dirty="0"/>
              <a:t>I am an introvert.</a:t>
            </a:r>
          </a:p>
          <a:p>
            <a:pPr>
              <a:spcBef>
                <a:spcPts val="400"/>
              </a:spcBef>
            </a:pPr>
            <a:r>
              <a:rPr lang="en-US" sz="2400" dirty="0"/>
              <a:t>I have two cats.</a:t>
            </a:r>
          </a:p>
          <a:p>
            <a:pPr>
              <a:spcBef>
                <a:spcPts val="400"/>
              </a:spcBef>
            </a:pPr>
            <a:r>
              <a:rPr lang="en-US" sz="2400" dirty="0"/>
              <a:t>I am a knitter.</a:t>
            </a:r>
          </a:p>
          <a:p>
            <a:pPr>
              <a:spcBef>
                <a:spcPts val="400"/>
              </a:spcBef>
            </a:pPr>
            <a:r>
              <a:rPr lang="en-US" sz="2400" dirty="0"/>
              <a:t>I am a pianist.</a:t>
            </a:r>
          </a:p>
          <a:p>
            <a:pPr>
              <a:spcBef>
                <a:spcPts val="400"/>
              </a:spcBef>
            </a:pPr>
            <a:r>
              <a:rPr lang="en-US" sz="2400" dirty="0"/>
              <a:t>I am a Carolina Hurricanes fan.</a:t>
            </a:r>
          </a:p>
          <a:p>
            <a:pPr>
              <a:spcBef>
                <a:spcPts val="400"/>
              </a:spcBef>
            </a:pPr>
            <a:r>
              <a:rPr lang="en-US" sz="2400" dirty="0"/>
              <a:t>I prefer science fiction to fantasy.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81EE1-E64A-4FC2-92BC-847CC11FF237}"/>
              </a:ext>
            </a:extLst>
          </p:cNvPr>
          <p:cNvSpPr txBox="1"/>
          <p:nvPr/>
        </p:nvSpPr>
        <p:spPr>
          <a:xfrm>
            <a:off x="7658093" y="2782741"/>
            <a:ext cx="3921266" cy="33343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14000"/>
              </a:lnSpc>
              <a:spcBef>
                <a:spcPts val="40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Answers:</a:t>
            </a:r>
          </a:p>
          <a:p>
            <a:pPr marL="342900" indent="-342900">
              <a:lnSpc>
                <a:spcPct val="114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True</a:t>
            </a:r>
          </a:p>
          <a:p>
            <a:pPr marL="342900" indent="-342900">
              <a:lnSpc>
                <a:spcPct val="114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True! I can bring photos</a:t>
            </a:r>
          </a:p>
          <a:p>
            <a:pPr marL="342900" indent="-342900">
              <a:lnSpc>
                <a:spcPct val="114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False… but I do quilt!</a:t>
            </a:r>
          </a:p>
          <a:p>
            <a:pPr marL="342900" indent="-342900">
              <a:lnSpc>
                <a:spcPct val="114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True, mostly in musicals</a:t>
            </a:r>
          </a:p>
          <a:p>
            <a:pPr marL="342900" indent="-342900">
              <a:lnSpc>
                <a:spcPct val="114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False – Go Penguins!</a:t>
            </a:r>
          </a:p>
          <a:p>
            <a:pPr marL="342900" indent="-342900">
              <a:lnSpc>
                <a:spcPct val="114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False. Dragons any day.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1F769C-890E-8E31-C47A-83D05634B3BC}"/>
              </a:ext>
            </a:extLst>
          </p:cNvPr>
          <p:cNvGrpSpPr/>
          <p:nvPr/>
        </p:nvGrpSpPr>
        <p:grpSpPr>
          <a:xfrm>
            <a:off x="5314951" y="2782740"/>
            <a:ext cx="1828800" cy="1828800"/>
            <a:chOff x="6900863" y="953941"/>
            <a:chExt cx="1828800" cy="18288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2A62739-3898-D71D-D42E-60864E15D1CA}"/>
                </a:ext>
              </a:extLst>
            </p:cNvPr>
            <p:cNvSpPr/>
            <p:nvPr/>
          </p:nvSpPr>
          <p:spPr>
            <a:xfrm>
              <a:off x="6900863" y="953941"/>
              <a:ext cx="1828800" cy="1828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2F4547D-F3AA-23C9-016D-AD27CF62F7F5}"/>
                </a:ext>
              </a:extLst>
            </p:cNvPr>
            <p:cNvSpPr/>
            <p:nvPr/>
          </p:nvSpPr>
          <p:spPr>
            <a:xfrm>
              <a:off x="6992303" y="1058901"/>
              <a:ext cx="1645920" cy="16459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0FCCCB6E-584F-A969-5EA3-19076F511F21}"/>
              </a:ext>
            </a:extLst>
          </p:cNvPr>
          <p:cNvSpPr/>
          <p:nvPr/>
        </p:nvSpPr>
        <p:spPr>
          <a:xfrm>
            <a:off x="5406391" y="2887700"/>
            <a:ext cx="1645920" cy="1645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0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3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FF3F-4933-E46B-921C-FA768076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Important Syllabus Items: Logistics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35B20-1FB3-A1E5-097E-8CBF13494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400" y="1733265"/>
            <a:ext cx="9944084" cy="4926842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Textbook:</a:t>
            </a:r>
            <a:r>
              <a:rPr lang="en-US" sz="2000" dirty="0"/>
              <a:t> Open-source and therefore free!  Available on Canvas.</a:t>
            </a:r>
            <a:endParaRPr lang="en-US" sz="2000" b="1" dirty="0"/>
          </a:p>
          <a:p>
            <a:pPr marL="194729" indent="0">
              <a:spcBef>
                <a:spcPts val="400"/>
              </a:spcBef>
              <a:buNone/>
            </a:pPr>
            <a:endParaRPr lang="en-US" sz="2000" b="1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Homework:</a:t>
            </a:r>
            <a:r>
              <a:rPr lang="en-US" sz="2000" dirty="0"/>
              <a:t> STOR 155 uses </a:t>
            </a:r>
            <a:r>
              <a:rPr lang="en-US" sz="2000" b="1" dirty="0"/>
              <a:t>WebAssign </a:t>
            </a:r>
            <a:r>
              <a:rPr lang="en-US" sz="2000" dirty="0"/>
              <a:t>for homework, which costs money         You can purchase semester-long access via the bookstore or online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Use the syllabus link to enroll in our WebAssign section by </a:t>
            </a:r>
            <a:r>
              <a:rPr lang="en-US" sz="2000" b="1" dirty="0"/>
              <a:t>Tuesday!</a:t>
            </a:r>
          </a:p>
          <a:p>
            <a:pPr lvl="1">
              <a:spcBef>
                <a:spcPts val="400"/>
              </a:spcBef>
            </a:pPr>
            <a:r>
              <a:rPr lang="en-US" sz="1800" dirty="0"/>
              <a:t>(That way we have a bit of time to solve any problems that may occur)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First assignment will be due </a:t>
            </a:r>
            <a:r>
              <a:rPr lang="en-US" sz="2000" b="1" dirty="0"/>
              <a:t>Thursday, January 15, 11:59pm!</a:t>
            </a:r>
            <a:endParaRPr lang="en-US" sz="2000" dirty="0"/>
          </a:p>
          <a:p>
            <a:pPr marL="194729" indent="0">
              <a:spcBef>
                <a:spcPts val="400"/>
              </a:spcBef>
              <a:buNone/>
            </a:pPr>
            <a:endParaRPr lang="en-US" sz="2000" b="1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Attendance:</a:t>
            </a:r>
            <a:r>
              <a:rPr lang="en-US" sz="2000" dirty="0"/>
              <a:t> Attendance is mandatory and part of your grade.  I will start using </a:t>
            </a:r>
            <a:r>
              <a:rPr lang="en-US" sz="2000" b="1" dirty="0" err="1"/>
              <a:t>PollEverywhere</a:t>
            </a:r>
            <a:r>
              <a:rPr lang="en-US" sz="2000" dirty="0"/>
              <a:t> for attendance on </a:t>
            </a:r>
            <a:r>
              <a:rPr lang="en-US" sz="2000" b="1" dirty="0"/>
              <a:t>Thursday, January 15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Take the </a:t>
            </a:r>
            <a:r>
              <a:rPr lang="en-US" sz="2000" b="1" dirty="0"/>
              <a:t>syllabus quiz</a:t>
            </a:r>
            <a:r>
              <a:rPr lang="en-US" sz="2000" dirty="0"/>
              <a:t> on Canvas by Wednesday for a bonus attendance point!</a:t>
            </a:r>
          </a:p>
        </p:txBody>
      </p:sp>
      <p:pic>
        <p:nvPicPr>
          <p:cNvPr id="5" name="Graphic 4" descr="Sad face with no fill">
            <a:extLst>
              <a:ext uri="{FF2B5EF4-FFF2-40B4-BE49-F238E27FC236}">
                <a16:creationId xmlns:a16="http://schemas.microsoft.com/office/drawing/2014/main" id="{DAF4F01A-166D-549B-1A58-4E5DB7ADC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3256" y="2617256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5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997C-E1D0-99B2-E195-E243F9A0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2D39-BEDB-AD5F-BAB9-F8CA807A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Important Syllabus Items: 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50712-477F-CE9D-983E-A539B0052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399" y="1733265"/>
            <a:ext cx="10080561" cy="4926842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Dr. Bergland’s Office Hours:</a:t>
            </a:r>
            <a:r>
              <a:rPr lang="en-US" sz="2000" dirty="0"/>
              <a:t> Hanes 310, Mondays 10-1 and Wednesdays 1-4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Drop by to ask questions, get advice, or just to say hello!</a:t>
            </a:r>
            <a:endParaRPr lang="en-US" sz="2000" b="1" dirty="0"/>
          </a:p>
          <a:p>
            <a:pPr marL="194729" indent="0">
              <a:spcBef>
                <a:spcPts val="400"/>
              </a:spcBef>
              <a:buNone/>
            </a:pPr>
            <a:endParaRPr lang="en-US" sz="1600" b="1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Piazza:</a:t>
            </a:r>
            <a:r>
              <a:rPr lang="en-US" sz="2000" dirty="0"/>
              <a:t> A full-class discussion board, shared by my two sections of STOR 155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Piazza </a:t>
            </a:r>
            <a:r>
              <a:rPr lang="en-US" sz="2000" b="1" dirty="0"/>
              <a:t>(not email)</a:t>
            </a:r>
            <a:r>
              <a:rPr lang="en-US" sz="2000" dirty="0"/>
              <a:t> is the best way to reach me outside office hours!</a:t>
            </a:r>
          </a:p>
          <a:p>
            <a:pPr marL="194729" indent="0">
              <a:spcBef>
                <a:spcPts val="400"/>
              </a:spcBef>
              <a:buNone/>
            </a:pPr>
            <a:endParaRPr lang="en-US" sz="1600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Tutorial sessions:</a:t>
            </a:r>
            <a:r>
              <a:rPr lang="en-US" sz="2000" dirty="0"/>
              <a:t> They’re free!  They’re open to all!  They’re led by experienced instructors!  They start </a:t>
            </a:r>
            <a:r>
              <a:rPr lang="en-US" sz="2000" b="1" dirty="0"/>
              <a:t>Monday, January 19</a:t>
            </a:r>
            <a:r>
              <a:rPr lang="en-US" sz="2000" dirty="0"/>
              <a:t> and run every night Sunday-Thursday!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Held virtually – Zoom link will be posted on Canvas</a:t>
            </a:r>
          </a:p>
          <a:p>
            <a:pPr marL="194729" indent="0">
              <a:spcBef>
                <a:spcPts val="400"/>
              </a:spcBef>
              <a:buNone/>
            </a:pPr>
            <a:endParaRPr lang="en-US" sz="1600" b="1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Need accommodations?  Let me know ASAP!</a:t>
            </a:r>
            <a:r>
              <a:rPr lang="en-US" sz="2000" dirty="0"/>
              <a:t>  The sooner I know what you need, the better I can be prepared to help.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8904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AF51-D452-1AFB-8ED1-9EE5A074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64C4-A997-C163-3E27-D4C26C299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What to Expect in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3D738-904E-9362-093C-7448D7E47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399" y="1733265"/>
            <a:ext cx="10066913" cy="4926841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000" dirty="0"/>
              <a:t>Blank lecture notes: These PDFs are provided in advance for you to print or access on the device of your choice.  They include lots of blank space for notes.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I will mostly lecture using the chalkboard – taking notes is up to you.</a:t>
            </a:r>
          </a:p>
          <a:p>
            <a:pPr>
              <a:spcBef>
                <a:spcPts val="400"/>
              </a:spcBef>
            </a:pPr>
            <a:r>
              <a:rPr lang="en-US" sz="2000" b="1" dirty="0"/>
              <a:t>Where to find them: </a:t>
            </a:r>
            <a:r>
              <a:rPr lang="en-US" sz="2000" dirty="0"/>
              <a:t>on Canvas, go to the Modules tab.  Each module is divided into Topics.  The blank notes can be found on each Topic page before lecture.</a:t>
            </a:r>
            <a:endParaRPr lang="en-US" sz="2000" b="1" dirty="0"/>
          </a:p>
          <a:p>
            <a:pPr marL="194729" indent="0">
              <a:spcBef>
                <a:spcPts val="400"/>
              </a:spcBef>
              <a:buNone/>
            </a:pPr>
            <a:endParaRPr lang="en-US" sz="1200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000" dirty="0"/>
              <a:t>Slideshows: Slide decks will mostly be used for images, interactive elements like </a:t>
            </a:r>
            <a:r>
              <a:rPr lang="en-US" sz="2000" dirty="0" err="1"/>
              <a:t>PollEverywhere</a:t>
            </a:r>
            <a:r>
              <a:rPr lang="en-US" sz="2000" dirty="0"/>
              <a:t>, and exercises where we pause to think, discuss, and synthesize.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Slide decks will also display headings </a:t>
            </a:r>
            <a:r>
              <a:rPr lang="en-US" sz="2000" b="1" dirty="0"/>
              <a:t>from the blank notes</a:t>
            </a:r>
            <a:r>
              <a:rPr lang="en-US" sz="2000" dirty="0"/>
              <a:t> to help guide you during the lecture.</a:t>
            </a:r>
          </a:p>
          <a:p>
            <a:pPr>
              <a:spcBef>
                <a:spcPts val="400"/>
              </a:spcBef>
            </a:pPr>
            <a:r>
              <a:rPr lang="en-US" sz="2000" b="1" dirty="0"/>
              <a:t>Slide decks will NOT contain detailed notes!</a:t>
            </a:r>
          </a:p>
          <a:p>
            <a:pPr marL="194729" indent="0">
              <a:spcBef>
                <a:spcPts val="400"/>
              </a:spcBef>
              <a:buNone/>
            </a:pPr>
            <a:endParaRPr lang="en-US" sz="1200" dirty="0"/>
          </a:p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Let’s see an example of how this will work!</a:t>
            </a:r>
          </a:p>
        </p:txBody>
      </p:sp>
    </p:spTree>
    <p:extLst>
      <p:ext uri="{BB962C8B-B14F-4D97-AF65-F5344CB8AC3E}">
        <p14:creationId xmlns:p14="http://schemas.microsoft.com/office/powerpoint/2010/main" val="385182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DC9D-DF87-566F-9912-F855FCE6E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8833-60FC-1D70-6FC4-AF553B80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Course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0F30D-50AA-0CC0-2576-6E6A561D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400" y="1733266"/>
            <a:ext cx="8811320" cy="4926841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3200" b="1" dirty="0"/>
              <a:t>What will we learn in STOR 155?</a:t>
            </a:r>
          </a:p>
          <a:p>
            <a:pPr marL="194729" indent="0">
              <a:spcBef>
                <a:spcPts val="400"/>
              </a:spcBef>
              <a:buSzPct val="100000"/>
              <a:buNone/>
            </a:pPr>
            <a:endParaRPr lang="en-US" sz="2400" dirty="0"/>
          </a:p>
          <a:p>
            <a:pPr marL="194729" indent="0">
              <a:spcBef>
                <a:spcPts val="400"/>
              </a:spcBef>
              <a:buSzPct val="100000"/>
              <a:buNone/>
            </a:pPr>
            <a:r>
              <a:rPr lang="en-US" sz="2400" dirty="0"/>
              <a:t>Steps of inquiry:</a:t>
            </a:r>
          </a:p>
          <a:p>
            <a:pPr marL="709079" indent="-51435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2400" dirty="0"/>
              <a:t>Identify a question or problem of interest</a:t>
            </a:r>
          </a:p>
          <a:p>
            <a:pPr marL="709079" indent="-51435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2400" dirty="0"/>
              <a:t>Collect relevant data</a:t>
            </a:r>
          </a:p>
          <a:p>
            <a:pPr marL="709079" indent="-51435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2400" dirty="0"/>
              <a:t>Analyze the data</a:t>
            </a:r>
          </a:p>
          <a:p>
            <a:pPr marL="709079" indent="-514350">
              <a:spcBef>
                <a:spcPts val="400"/>
              </a:spcBef>
              <a:buSzPct val="100000"/>
              <a:buFont typeface="+mj-lt"/>
              <a:buAutoNum type="arabicPeriod"/>
            </a:pPr>
            <a:r>
              <a:rPr lang="en-US" sz="2400" dirty="0"/>
              <a:t>Form a conclusion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523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8DC38-4DDB-6DF1-29EF-5B8F18F9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15C7-0E20-E983-0CFE-318DB012C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Case Study: Stents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25063-9047-F658-E612-BF67C3F5B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399" y="1733266"/>
            <a:ext cx="10066913" cy="4926840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000" dirty="0"/>
              <a:t>Do stents reduce the risk of stroke in at-risk patients?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B1C42-66A8-BD37-3842-24C47346E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227" y="2760891"/>
            <a:ext cx="2860418" cy="287563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40CBB5-6C74-C079-0DC3-4244951FB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189880"/>
              </p:ext>
            </p:extLst>
          </p:nvPr>
        </p:nvGraphicFramePr>
        <p:xfrm>
          <a:off x="6096000" y="3333465"/>
          <a:ext cx="4658436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2812">
                  <a:extLst>
                    <a:ext uri="{9D8B030D-6E8A-4147-A177-3AD203B41FA5}">
                      <a16:colId xmlns:a16="http://schemas.microsoft.com/office/drawing/2014/main" val="2414302663"/>
                    </a:ext>
                  </a:extLst>
                </a:gridCol>
                <a:gridCol w="1358709">
                  <a:extLst>
                    <a:ext uri="{9D8B030D-6E8A-4147-A177-3AD203B41FA5}">
                      <a16:colId xmlns:a16="http://schemas.microsoft.com/office/drawing/2014/main" val="827726647"/>
                    </a:ext>
                  </a:extLst>
                </a:gridCol>
                <a:gridCol w="1746915">
                  <a:extLst>
                    <a:ext uri="{9D8B030D-6E8A-4147-A177-3AD203B41FA5}">
                      <a16:colId xmlns:a16="http://schemas.microsoft.com/office/drawing/2014/main" val="1957997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2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Stroke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No Event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605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Treatment</a:t>
                      </a:r>
                    </a:p>
                  </a:txBody>
                  <a:tcPr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45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179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24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Control</a:t>
                      </a:r>
                    </a:p>
                  </a:txBody>
                  <a:tcPr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28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199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223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896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5C873-8F27-CDE4-69FB-CB41FD34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CA75-46BB-F29D-043D-4AA61E2D7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Let’s try a poll!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536891-165F-06A4-A546-F6F7A59D7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400" y="1733266"/>
            <a:ext cx="9374000" cy="4531056"/>
          </a:xfrm>
        </p:spPr>
        <p:txBody>
          <a:bodyPr>
            <a:normAutofit/>
          </a:bodyPr>
          <a:lstStyle/>
          <a:p>
            <a:pPr marL="194729" indent="0">
              <a:buNone/>
            </a:pPr>
            <a:r>
              <a:rPr lang="en-US" sz="2000" dirty="0"/>
              <a:t>Do you find this study data surprising?</a:t>
            </a:r>
          </a:p>
          <a:p>
            <a:pPr marL="194729" indent="0">
              <a:buNone/>
            </a:pPr>
            <a:endParaRPr lang="en-US" sz="2000" dirty="0"/>
          </a:p>
          <a:p>
            <a:pPr marL="194729" indent="0">
              <a:buNone/>
            </a:pPr>
            <a:endParaRPr lang="en-US" sz="2000" dirty="0"/>
          </a:p>
          <a:p>
            <a:pPr marL="194729" indent="0">
              <a:buNone/>
            </a:pPr>
            <a:endParaRPr lang="en-US" sz="2000" dirty="0"/>
          </a:p>
          <a:p>
            <a:pPr marL="194729" indent="0">
              <a:buNone/>
            </a:pPr>
            <a:endParaRPr lang="en-US" sz="2000" dirty="0"/>
          </a:p>
          <a:p>
            <a:pPr marL="194729" indent="0">
              <a:buNone/>
            </a:pPr>
            <a:endParaRPr lang="en-US" sz="2000" dirty="0"/>
          </a:p>
          <a:p>
            <a:pPr marL="194729" indent="0">
              <a:buNone/>
            </a:pPr>
            <a:endParaRPr lang="en-US" sz="2000" dirty="0"/>
          </a:p>
          <a:p>
            <a:pPr marL="194729" indent="0">
              <a:buNone/>
            </a:pPr>
            <a:endParaRPr lang="en-US" sz="2000" dirty="0"/>
          </a:p>
          <a:p>
            <a:pPr marL="194729" indent="0">
              <a:buNone/>
            </a:pPr>
            <a:r>
              <a:rPr lang="en-US" sz="2000" dirty="0"/>
              <a:t>For future polls, you’ll need a </a:t>
            </a:r>
            <a:r>
              <a:rPr lang="en-US" sz="2000" b="1" dirty="0" err="1"/>
              <a:t>PollEverywhere</a:t>
            </a:r>
            <a:r>
              <a:rPr lang="en-US" sz="2000" b="1" dirty="0"/>
              <a:t> account!</a:t>
            </a:r>
            <a:r>
              <a:rPr lang="en-US" sz="2000" dirty="0"/>
              <a:t> If you don’t have one yet, go to </a:t>
            </a:r>
            <a:r>
              <a:rPr lang="en-US" sz="2000" dirty="0">
                <a:hlinkClick r:id="rId2"/>
              </a:rPr>
              <a:t>https://edtech.unc.edu/service/poll-everywhere/</a:t>
            </a:r>
            <a:r>
              <a:rPr lang="en-US" sz="2000" dirty="0"/>
              <a:t> for instructions.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I will start running polls this way next week!  We’ll do a test run on Tuesday before using it for attendance.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376CC41-3878-3C05-8334-4DDF66DF3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640825"/>
              </p:ext>
            </p:extLst>
          </p:nvPr>
        </p:nvGraphicFramePr>
        <p:xfrm>
          <a:off x="1974377" y="2668432"/>
          <a:ext cx="4658436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2812">
                  <a:extLst>
                    <a:ext uri="{9D8B030D-6E8A-4147-A177-3AD203B41FA5}">
                      <a16:colId xmlns:a16="http://schemas.microsoft.com/office/drawing/2014/main" val="2414302663"/>
                    </a:ext>
                  </a:extLst>
                </a:gridCol>
                <a:gridCol w="1358709">
                  <a:extLst>
                    <a:ext uri="{9D8B030D-6E8A-4147-A177-3AD203B41FA5}">
                      <a16:colId xmlns:a16="http://schemas.microsoft.com/office/drawing/2014/main" val="827726647"/>
                    </a:ext>
                  </a:extLst>
                </a:gridCol>
                <a:gridCol w="1746915">
                  <a:extLst>
                    <a:ext uri="{9D8B030D-6E8A-4147-A177-3AD203B41FA5}">
                      <a16:colId xmlns:a16="http://schemas.microsoft.com/office/drawing/2014/main" val="1957997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2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Stroke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No Event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605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Treatment</a:t>
                      </a:r>
                    </a:p>
                  </a:txBody>
                  <a:tcPr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45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179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24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Control</a:t>
                      </a:r>
                    </a:p>
                  </a:txBody>
                  <a:tcPr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28</a:t>
                      </a: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199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223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22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3DA1-229D-7582-B59F-B4C6485C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49AE-9588-8E9E-AF93-01C73C45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Case Study: Stents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D0DD9-C8EB-AB76-377D-1B91987E6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0160" y="2047164"/>
            <a:ext cx="9589244" cy="4612942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The Big Question: </a:t>
            </a:r>
            <a:r>
              <a:rPr lang="en-US" sz="2000" dirty="0"/>
              <a:t>Do we have enough information to conclude that stents change the risk of stroke in this type of patient?</a:t>
            </a:r>
          </a:p>
          <a:p>
            <a:pPr marL="194729" indent="0">
              <a:spcBef>
                <a:spcPts val="400"/>
              </a:spcBef>
              <a:buNone/>
            </a:pPr>
            <a:endParaRPr lang="en-US" sz="2000" b="1" dirty="0"/>
          </a:p>
          <a:p>
            <a:pPr marL="194729" indent="0">
              <a:spcBef>
                <a:spcPts val="400"/>
              </a:spcBef>
              <a:buNone/>
            </a:pPr>
            <a:endParaRPr lang="en-US" sz="2000" b="1" dirty="0"/>
          </a:p>
          <a:p>
            <a:pPr marL="194729" indent="0" algn="ctr">
              <a:spcBef>
                <a:spcPts val="400"/>
              </a:spcBef>
              <a:buNone/>
            </a:pPr>
            <a:r>
              <a:rPr lang="en-US" sz="2400" b="1" dirty="0"/>
              <a:t>Test poll!</a:t>
            </a:r>
          </a:p>
          <a:p>
            <a:pPr marL="194729" indent="0" algn="ctr">
              <a:spcBef>
                <a:spcPts val="400"/>
              </a:spcBef>
              <a:buNone/>
            </a:pPr>
            <a:r>
              <a:rPr lang="en-US" sz="2400" dirty="0"/>
              <a:t>Flip a coin – physically or virtually – and report the result.</a:t>
            </a:r>
          </a:p>
          <a:p>
            <a:pPr marL="194729" indent="0" algn="ctr">
              <a:spcBef>
                <a:spcPts val="400"/>
              </a:spcBef>
              <a:buNone/>
            </a:pPr>
            <a:r>
              <a:rPr lang="en-US" sz="2400" dirty="0"/>
              <a:t>(To flip a virtual coin, just Google “Flip a coin”)</a:t>
            </a:r>
          </a:p>
        </p:txBody>
      </p:sp>
    </p:spTree>
    <p:extLst>
      <p:ext uri="{BB962C8B-B14F-4D97-AF65-F5344CB8AC3E}">
        <p14:creationId xmlns:p14="http://schemas.microsoft.com/office/powerpoint/2010/main" val="40775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3DA1-229D-7582-B59F-B4C6485C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49AE-9588-8E9E-AF93-01C73C45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Case Study: Stents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D0DD9-C8EB-AB76-377D-1B91987E6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0160" y="2047164"/>
            <a:ext cx="9589244" cy="4612942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000" b="1" dirty="0"/>
              <a:t>The Big Question: </a:t>
            </a:r>
            <a:r>
              <a:rPr lang="en-US" sz="2000" dirty="0"/>
              <a:t>Do we have enough information to conclude that stents change the risk of stroke in this type of patient?</a:t>
            </a:r>
          </a:p>
          <a:p>
            <a:pPr marL="194729" indent="0">
              <a:spcBef>
                <a:spcPts val="400"/>
              </a:spcBef>
              <a:buNone/>
            </a:pPr>
            <a:endParaRPr lang="en-US" sz="2000" b="1" dirty="0"/>
          </a:p>
          <a:p>
            <a:pPr marL="194729" indent="0">
              <a:spcBef>
                <a:spcPts val="400"/>
              </a:spcBef>
              <a:buNone/>
            </a:pPr>
            <a:endParaRPr lang="en-US" sz="2000" b="1" dirty="0"/>
          </a:p>
          <a:p>
            <a:pPr marL="194729" indent="0" algn="ctr">
              <a:spcBef>
                <a:spcPts val="400"/>
              </a:spcBef>
              <a:buNone/>
            </a:pPr>
            <a:r>
              <a:rPr lang="en-US" sz="2400" b="1" dirty="0"/>
              <a:t>We use statistical tools to determine if the difference is so large that we should reject the notion that it was due to chance.</a:t>
            </a:r>
          </a:p>
        </p:txBody>
      </p:sp>
    </p:spTree>
    <p:extLst>
      <p:ext uri="{BB962C8B-B14F-4D97-AF65-F5344CB8AC3E}">
        <p14:creationId xmlns:p14="http://schemas.microsoft.com/office/powerpoint/2010/main" val="130007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8C509-64DE-8430-96B8-D33D95C3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62FB-5809-50C2-CF4C-E974B892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Sets: Vocabulary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41531-6939-16AC-FAFA-99A494446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400" y="1855836"/>
            <a:ext cx="7760442" cy="4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7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D2FC-5AB3-DEF4-2324-6A70E1C2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98CD-EDB5-853F-5790-3E91D661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00" y="798100"/>
            <a:ext cx="9374000" cy="935166"/>
          </a:xfrm>
        </p:spPr>
        <p:txBody>
          <a:bodyPr>
            <a:normAutofit/>
          </a:bodyPr>
          <a:lstStyle/>
          <a:p>
            <a:r>
              <a:rPr lang="en-US" sz="3600" dirty="0"/>
              <a:t>Data Sets: Vocabulary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9CCED-969F-70D0-1E38-E5892F9D4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399" y="2047164"/>
            <a:ext cx="10066913" cy="4612941"/>
          </a:xfrm>
        </p:spPr>
        <p:txBody>
          <a:bodyPr>
            <a:normAutofit/>
          </a:bodyPr>
          <a:lstStyle/>
          <a:p>
            <a:pPr marL="194729" indent="0">
              <a:spcBef>
                <a:spcPts val="400"/>
              </a:spcBef>
              <a:buNone/>
            </a:pPr>
            <a:r>
              <a:rPr lang="en-US" sz="2400" b="1" dirty="0"/>
              <a:t>Two types of variables:</a:t>
            </a:r>
          </a:p>
          <a:p>
            <a:pPr marL="194729" indent="0">
              <a:spcBef>
                <a:spcPts val="400"/>
              </a:spcBef>
              <a:buNone/>
            </a:pPr>
            <a:endParaRPr lang="en-US" sz="2400" b="1" dirty="0"/>
          </a:p>
          <a:p>
            <a:pPr>
              <a:spcBef>
                <a:spcPts val="400"/>
              </a:spcBef>
            </a:pPr>
            <a:r>
              <a:rPr lang="en-US" sz="2400" dirty="0"/>
              <a:t>Numerical</a:t>
            </a:r>
          </a:p>
          <a:p>
            <a:pPr marL="194729" indent="0">
              <a:spcBef>
                <a:spcPts val="400"/>
              </a:spcBef>
              <a:buNone/>
            </a:pPr>
            <a:endParaRPr lang="en-US" sz="2400" dirty="0"/>
          </a:p>
          <a:p>
            <a:pPr>
              <a:spcBef>
                <a:spcPts val="400"/>
              </a:spcBef>
            </a:pPr>
            <a:r>
              <a:rPr lang="en-US" sz="2400" dirty="0"/>
              <a:t>Categorical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9BD07-324F-0480-3C81-AFC558E5F920}"/>
              </a:ext>
            </a:extLst>
          </p:cNvPr>
          <p:cNvSpPr txBox="1"/>
          <p:nvPr/>
        </p:nvSpPr>
        <p:spPr>
          <a:xfrm>
            <a:off x="5367522" y="2906973"/>
            <a:ext cx="175721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Discrete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Continuous</a:t>
            </a:r>
          </a:p>
          <a:p>
            <a:endParaRPr lang="en-US" sz="2000" dirty="0">
              <a:solidFill>
                <a:schemeClr val="bg2">
                  <a:lumMod val="50000"/>
                </a:schemeClr>
              </a:solidFill>
              <a:latin typeface="Nunito" pitchFamily="2" charset="0"/>
            </a:endParaRP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Ordinal 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Nunito" pitchFamily="2" charset="0"/>
              </a:rPr>
              <a:t>Nominal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B26165-F88E-E665-228C-A28351151530}"/>
              </a:ext>
            </a:extLst>
          </p:cNvPr>
          <p:cNvCxnSpPr/>
          <p:nvPr/>
        </p:nvCxnSpPr>
        <p:spPr>
          <a:xfrm flipV="1">
            <a:off x="4121627" y="3125336"/>
            <a:ext cx="1282890" cy="15012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ACA2DA-11FC-97F1-7F64-D3BBA8C2D29B}"/>
              </a:ext>
            </a:extLst>
          </p:cNvPr>
          <p:cNvCxnSpPr>
            <a:cxnSpLocks/>
          </p:cNvCxnSpPr>
          <p:nvPr/>
        </p:nvCxnSpPr>
        <p:spPr>
          <a:xfrm>
            <a:off x="4121627" y="3357348"/>
            <a:ext cx="1282890" cy="15012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76F8CD-23BF-1EC8-F205-BD7607D19823}"/>
              </a:ext>
            </a:extLst>
          </p:cNvPr>
          <p:cNvCxnSpPr/>
          <p:nvPr/>
        </p:nvCxnSpPr>
        <p:spPr>
          <a:xfrm flipV="1">
            <a:off x="4123602" y="4135271"/>
            <a:ext cx="1282890" cy="15012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FF57EB-5453-6CA2-FDB0-7211B322F7EA}"/>
              </a:ext>
            </a:extLst>
          </p:cNvPr>
          <p:cNvCxnSpPr>
            <a:cxnSpLocks/>
          </p:cNvCxnSpPr>
          <p:nvPr/>
        </p:nvCxnSpPr>
        <p:spPr>
          <a:xfrm>
            <a:off x="4123602" y="4367283"/>
            <a:ext cx="1282890" cy="15012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56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2E77F-76F8-6201-885C-16BDE8D8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Let’s Practice! Variable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B0322-5054-DCB6-B817-42F8B93FB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400" y="1855836"/>
            <a:ext cx="7760442" cy="4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0498"/>
      </p:ext>
    </p:extLst>
  </p:cSld>
  <p:clrMapOvr>
    <a:masterClrMapping/>
  </p:clrMapOvr>
</p:sld>
</file>

<file path=ppt/theme/theme1.xml><?xml version="1.0" encoding="utf-8"?>
<a:theme xmlns:a="http://schemas.openxmlformats.org/drawingml/2006/main" name="APMA Theme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MA Theme" id="{CAD7BC13-93F8-42DD-943D-94D44EF9CC5A}" vid="{C7285DE9-EB7C-4878-A752-695D9CBDCF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APMA Theme</Template>
  <TotalTime>4754</TotalTime>
  <Words>831</Words>
  <Application>Microsoft Macintosh PowerPoint</Application>
  <PresentationFormat>Widescreen</PresentationFormat>
  <Paragraphs>118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Maven Pro</vt:lpstr>
      <vt:lpstr>Nunito</vt:lpstr>
      <vt:lpstr>APMA Theme</vt:lpstr>
      <vt:lpstr>Topic 1: Introduction and Basics of Data</vt:lpstr>
      <vt:lpstr>Introductions</vt:lpstr>
      <vt:lpstr>Important Syllabus Items: Logistics</vt:lpstr>
      <vt:lpstr>Important Syllabus Items: Resources</vt:lpstr>
      <vt:lpstr>What to Expect in Lecture</vt:lpstr>
      <vt:lpstr>Course Overview</vt:lpstr>
      <vt:lpstr>Case Study: Stents</vt:lpstr>
      <vt:lpstr>Let’s try a poll!</vt:lpstr>
      <vt:lpstr>Case Study: Stents</vt:lpstr>
      <vt:lpstr>Case Study: Stents</vt:lpstr>
      <vt:lpstr>Data Sets: Vocabulary</vt:lpstr>
      <vt:lpstr>Data Sets: Vocabulary</vt:lpstr>
      <vt:lpstr>Let’s Practice! Variable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Teressa Chambers</dc:creator>
  <cp:lastModifiedBy>Reese, Taylor Barry</cp:lastModifiedBy>
  <cp:revision>2</cp:revision>
  <dcterms:created xsi:type="dcterms:W3CDTF">2025-08-16T22:01:48Z</dcterms:created>
  <dcterms:modified xsi:type="dcterms:W3CDTF">2026-02-10T01:51:14Z</dcterms:modified>
</cp:coreProperties>
</file>